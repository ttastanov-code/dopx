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Голоса</c:v>
                </c:pt>
              </c:strCache>
            </c:strRef>
          </c:tx>
          <c:spPr>
            <a:solidFill>
              <a:srgbClr val="9333E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1-2</c:v>
                </c:pt>
                <c:pt idx="1">
                  <c:v>3-4</c:v>
                </c:pt>
                <c:pt idx="2">
                  <c:v>5-6</c:v>
                </c:pt>
                <c:pt idx="3">
                  <c:v>7-8</c:v>
                </c:pt>
                <c:pt idx="4">
                  <c:v>9-10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22</c:v>
                </c:pt>
                <c:pt idx="3">
                  <c:v>41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AD-D348-B083-F06AC9AC71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Матч тура</c:v>
                </c:pt>
              </c:strCache>
            </c:strRef>
          </c:tx>
          <c:spPr>
            <a:solidFill>
              <a:srgbClr val="9333EA"/>
            </a:solidFill>
            <a:ln w="25400" cap="flat">
              <a:solidFill>
                <a:srgbClr val="9333EA"/>
              </a:solidFill>
              <a:prstDash val="solid"/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Накал</c:v>
                </c:pt>
                <c:pt idx="1">
                  <c:v>Настроение</c:v>
                </c:pt>
                <c:pt idx="2">
                  <c:v>Доверие</c:v>
                </c:pt>
                <c:pt idx="3">
                  <c:v>Дивергенция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74</c:v>
                </c:pt>
                <c:pt idx="2">
                  <c:v>68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B-9742-98F3-ABE17C949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8D9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62B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437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F2437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79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6949440" cy="6949440"/>
          </a:xfrm>
          <a:prstGeom prst="ellipse">
            <a:avLst/>
          </a:prstGeom>
          <a:ln w="12700">
            <a:solidFill>
              <a:srgbClr val="4F6B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097280"/>
            <a:ext cx="4389120" cy="4389120"/>
          </a:xfrm>
          <a:prstGeom prst="ellipse">
            <a:avLst/>
          </a:prstGeom>
          <a:ln w="12700">
            <a:solidFill>
              <a:srgbClr val="9333E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66928" cy="566928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5" name="Shape 3"/>
          <p:cNvSpPr/>
          <p:nvPr/>
        </p:nvSpPr>
        <p:spPr>
          <a:xfrm>
            <a:off x="544068" y="1229868"/>
            <a:ext cx="623621" cy="623621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566928" cy="566928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7" name="Shape 5"/>
          <p:cNvSpPr/>
          <p:nvPr/>
        </p:nvSpPr>
        <p:spPr>
          <a:xfrm>
            <a:off x="816902" y="1619631"/>
            <a:ext cx="63779" cy="18602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7374" y="1502702"/>
            <a:ext cx="63779" cy="3029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57847" y="1566482"/>
            <a:ext cx="63779" cy="23917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34145" y="1371600"/>
            <a:ext cx="18141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8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248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платформа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Казахстанской Премьер Лиги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617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матчей, игроков и команд, построенные на голосе трибун, а не на мнении редакции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аналитики, которого не хватает казахстанскому футболу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 не заменяет официальный протокол матча. Он добавляет то, чего в нём нет: как игру оценили сами болельщики, кто реально был лучшим и чему сейчас доверяют трибуны.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306324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167" y="3298607"/>
            <a:ext cx="215067" cy="215067"/>
          </a:xfrm>
          <a:prstGeom prst="star5">
            <a:avLst/>
          </a:prstGeom>
          <a:solidFill>
            <a:srgbClr val="D8B4FE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357" y="3221797"/>
            <a:ext cx="61448" cy="61448"/>
          </a:xfrm>
          <a:prstGeom prst="ellipse">
            <a:avLst/>
          </a:prstGeom>
          <a:solidFill>
            <a:srgbClr val="D8B4FE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6233" y="3221797"/>
            <a:ext cx="61448" cy="61448"/>
          </a:xfrm>
          <a:prstGeom prst="ellipse">
            <a:avLst/>
          </a:prstGeom>
          <a:solidFill>
            <a:srgbClr val="D8B4F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4357" y="3513673"/>
            <a:ext cx="61448" cy="61448"/>
          </a:xfrm>
          <a:prstGeom prst="ellipse">
            <a:avLst/>
          </a:prstGeom>
          <a:solidFill>
            <a:srgbClr val="D8B4FE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36233" y="3513673"/>
            <a:ext cx="61448" cy="61448"/>
          </a:xfrm>
          <a:prstGeom prst="ellipse">
            <a:avLst/>
          </a:prstGeom>
          <a:solidFill>
            <a:srgbClr val="D8B4F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90295" y="3191073"/>
            <a:ext cx="61448" cy="61448"/>
          </a:xfrm>
          <a:prstGeom prst="ellipse">
            <a:avLst/>
          </a:prstGeom>
          <a:solidFill>
            <a:srgbClr val="D8B4FE">
              <a:alpha val="6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от трибун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32511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Матч, игроки, тренеры и судьи получают оценку от болельщиков после каждой игры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06324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2836" y="3452226"/>
            <a:ext cx="76810" cy="145938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29572" y="3367735"/>
            <a:ext cx="76810" cy="230429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56308" y="3283245"/>
            <a:ext cx="76810" cy="314919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83044" y="3214116"/>
            <a:ext cx="76810" cy="384048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02836" y="3452226"/>
            <a:ext cx="384048" cy="0"/>
          </a:xfrm>
          <a:prstGeom prst="line">
            <a:avLst/>
          </a:prstGeom>
          <a:noFill/>
          <a:ln w="28575">
            <a:solidFill>
              <a:srgbClr val="BFD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2320" y="3206435"/>
            <a:ext cx="61448" cy="61448"/>
          </a:xfrm>
          <a:prstGeom prst="ellipse">
            <a:avLst/>
          </a:prstGeom>
          <a:solidFill>
            <a:srgbClr val="BFD0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519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рейтинги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432511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игроков и команд пересчитываются по итогам каждого тура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18120" y="3063240"/>
            <a:ext cx="685800" cy="6858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4137" y="3194914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988198" y="3340852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2" name="Shape 30"/>
          <p:cNvSpPr/>
          <p:nvPr/>
        </p:nvSpPr>
        <p:spPr>
          <a:xfrm>
            <a:off x="8134137" y="3340852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80075" y="3340852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4" name="Shape 32"/>
          <p:cNvSpPr/>
          <p:nvPr/>
        </p:nvSpPr>
        <p:spPr>
          <a:xfrm>
            <a:off x="8057327" y="3517514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5" name="Shape 33"/>
          <p:cNvSpPr/>
          <p:nvPr/>
        </p:nvSpPr>
        <p:spPr>
          <a:xfrm>
            <a:off x="8210946" y="3517514"/>
            <a:ext cx="53767" cy="53767"/>
          </a:xfrm>
          <a:prstGeom prst="ellipse">
            <a:avLst/>
          </a:prstGeom>
          <a:solidFill>
            <a:srgbClr val="D8B4F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181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Сборная тура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432511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Формируется автоматически из голосов, а не выбором редакции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формируется рейтинг тура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40180" y="2103120"/>
            <a:ext cx="777240" cy="7772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401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Матч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44952" y="249174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83380" y="2103120"/>
            <a:ext cx="777240" cy="7772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833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Трибуны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голосуют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88152" y="249174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26580" y="2103120"/>
            <a:ext cx="777240" cy="7772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265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Голоса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взвешиваются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31352" y="2491740"/>
            <a:ext cx="3108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69780" y="2103120"/>
            <a:ext cx="777240" cy="7772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697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публикуется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распределения оценок за один матч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85800" y="4480560"/>
          <a:ext cx="107899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ДНК матча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745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просто счёт, а характер игры: накал борьбы, настроение трибун, доверие к командам и то, насколько реальность разошлась с ожиданиями. Есть только у DOPX.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348386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3101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Накал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упорной и открытой была игра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5079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8770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Настроение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трибуны восприняли результат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61772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443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болельщики доверяют команде сейчас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18464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0109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Дивергенция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ожиданиями и тем, что случилось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по матчу тура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675120" y="2057400"/>
          <a:ext cx="4846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игроков по итогам тура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структуры данных, обезличенный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789920" cy="32918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 тура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Тренд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 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Нападающий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 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Полузащитник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 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Защитник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 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Вратарь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Игрок 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Полузащитник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Сборная тура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Формация собирается автоматически по итогам голосования трибун за тур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234440"/>
            <a:ext cx="4480560" cy="5257800"/>
          </a:xfrm>
          <a:prstGeom prst="roundRect">
            <a:avLst>
              <a:gd name="adj" fmla="val 1224"/>
            </a:avLst>
          </a:prstGeom>
          <a:solidFill>
            <a:srgbClr val="262B42"/>
          </a:solidFill>
          <a:ln w="12700">
            <a:solidFill>
              <a:srgbClr val="343B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3863340"/>
            <a:ext cx="4480560" cy="0"/>
          </a:xfrm>
          <a:prstGeom prst="line">
            <a:avLst/>
          </a:prstGeom>
          <a:noFill/>
          <a:ln w="12700">
            <a:solidFill>
              <a:srgbClr val="343B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3360420"/>
            <a:ext cx="1005840" cy="1005840"/>
          </a:xfrm>
          <a:prstGeom prst="ellipse">
            <a:avLst/>
          </a:prstGeom>
          <a:ln w="12700">
            <a:solidFill>
              <a:srgbClr val="343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3416" y="1469898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43416" y="158877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09637" y="2258568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09637" y="23774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95360" y="2153412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95360" y="227228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91472" y="2153412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91472" y="227228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477195" y="2258568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77195" y="23774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57693" y="3415284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57693" y="35341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43416" y="3310128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43416" y="342900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29139" y="3415284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29139" y="35341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78470" y="4572000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78470" y="46908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43416" y="4782312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43416" y="490118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208362" y="4572000"/>
            <a:ext cx="475488" cy="47548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08362" y="46908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5800" y="2816352"/>
            <a:ext cx="91440" cy="9144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0120" y="26334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позиция закрывается игроком с наивысшим рейтингом тура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0120" y="3383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Обновляется автоматически после последнего матча тура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4315968"/>
            <a:ext cx="91440" cy="9144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0120" y="41330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редакционной выборки, только голоса болельщиков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DOPX отличается от того, что есть сейчас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сайт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Спортивные СМИ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10744200" cy="65836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1488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и турнирная таблица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9652" y="2322576"/>
            <a:ext cx="310896" cy="310896"/>
          </a:xfrm>
          <a:prstGeom prst="ellipse">
            <a:avLst/>
          </a:prstGeom>
          <a:solidFill>
            <a:srgbClr val="9CA3AF"/>
          </a:solidFill>
          <a:ln/>
        </p:spPr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FC37139F-C4FA-BD27-2BC5-153E26059F78}"/>
              </a:ext>
            </a:extLst>
          </p:cNvPr>
          <p:cNvGrpSpPr/>
          <p:nvPr/>
        </p:nvGrpSpPr>
        <p:grpSpPr>
          <a:xfrm>
            <a:off x="6427646" y="2418906"/>
            <a:ext cx="183428" cy="139139"/>
            <a:chOff x="6443594" y="2418906"/>
            <a:chExt cx="183428" cy="139139"/>
          </a:xfrm>
        </p:grpSpPr>
        <p:sp>
          <p:nvSpPr>
            <p:cNvPr id="16" name="Shape 14"/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sp>
        <p:nvSpPr>
          <p:cNvPr id="18" name="Shape 16"/>
          <p:cNvSpPr/>
          <p:nvPr/>
        </p:nvSpPr>
        <p:spPr>
          <a:xfrm>
            <a:off x="8325612" y="2322576"/>
            <a:ext cx="310896" cy="310896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91572" y="2322576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28072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игры от самих трибун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9652" y="2980944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5612" y="2980944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91572" y="2980944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3465576"/>
            <a:ext cx="10744200" cy="65836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34655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«ДНК матча»: накал, настроение, доверие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59652" y="3639312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5612" y="3639312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91572" y="3639312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" y="412394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рейтинг игроков по турам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359652" y="4297680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5612" y="4297680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91572" y="4297680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3" name="Shape 41"/>
          <p:cNvSpPr/>
          <p:nvPr/>
        </p:nvSpPr>
        <p:spPr>
          <a:xfrm>
            <a:off x="685800" y="4782312"/>
            <a:ext cx="10744200" cy="65836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4400" y="47823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Сборная тура от болельщиков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359652" y="4956048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5612" y="4956048"/>
            <a:ext cx="310896" cy="310896"/>
          </a:xfrm>
          <a:prstGeom prst="ellipse">
            <a:avLst/>
          </a:prstGeom>
          <a:ln w="19050">
            <a:solidFill>
              <a:srgbClr val="C7CB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91572" y="4956048"/>
            <a:ext cx="310896" cy="31089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B08FB807-F1D8-6F93-433A-73E505D4EFB6}"/>
              </a:ext>
            </a:extLst>
          </p:cNvPr>
          <p:cNvGrpSpPr/>
          <p:nvPr/>
        </p:nvGrpSpPr>
        <p:grpSpPr>
          <a:xfrm>
            <a:off x="8389346" y="2418905"/>
            <a:ext cx="183428" cy="139139"/>
            <a:chOff x="6443594" y="2418906"/>
            <a:chExt cx="183428" cy="139139"/>
          </a:xfrm>
        </p:grpSpPr>
        <p:sp>
          <p:nvSpPr>
            <p:cNvPr id="53" name="Shape 14">
              <a:extLst>
                <a:ext uri="{FF2B5EF4-FFF2-40B4-BE49-F238E27FC236}">
                  <a16:creationId xmlns:a16="http://schemas.microsoft.com/office/drawing/2014/main" id="{82E6B239-AEAA-07DF-CDBC-E5E7BD7C81A4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54" name="Shape 15">
              <a:extLst>
                <a:ext uri="{FF2B5EF4-FFF2-40B4-BE49-F238E27FC236}">
                  <a16:creationId xmlns:a16="http://schemas.microsoft.com/office/drawing/2014/main" id="{AD45645A-711E-4436-E9FA-9F2C52EA8F69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D6468C00-AE39-85FF-86E2-478336A29C49}"/>
              </a:ext>
            </a:extLst>
          </p:cNvPr>
          <p:cNvGrpSpPr/>
          <p:nvPr/>
        </p:nvGrpSpPr>
        <p:grpSpPr>
          <a:xfrm>
            <a:off x="10355306" y="2413068"/>
            <a:ext cx="183428" cy="139139"/>
            <a:chOff x="6443594" y="2418906"/>
            <a:chExt cx="183428" cy="139139"/>
          </a:xfrm>
        </p:grpSpPr>
        <p:sp>
          <p:nvSpPr>
            <p:cNvPr id="56" name="Shape 14">
              <a:extLst>
                <a:ext uri="{FF2B5EF4-FFF2-40B4-BE49-F238E27FC236}">
                  <a16:creationId xmlns:a16="http://schemas.microsoft.com/office/drawing/2014/main" id="{85D9853D-2760-1039-2431-0D8886AE3DE3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D0570F90-2FF9-053F-4180-D955BB334858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F4B1768F-77FE-36F1-5977-2D565552275E}"/>
              </a:ext>
            </a:extLst>
          </p:cNvPr>
          <p:cNvGrpSpPr/>
          <p:nvPr/>
        </p:nvGrpSpPr>
        <p:grpSpPr>
          <a:xfrm>
            <a:off x="10350087" y="3066822"/>
            <a:ext cx="183428" cy="139139"/>
            <a:chOff x="6443594" y="2418906"/>
            <a:chExt cx="183428" cy="139139"/>
          </a:xfrm>
        </p:grpSpPr>
        <p:sp>
          <p:nvSpPr>
            <p:cNvPr id="59" name="Shape 14">
              <a:extLst>
                <a:ext uri="{FF2B5EF4-FFF2-40B4-BE49-F238E27FC236}">
                  <a16:creationId xmlns:a16="http://schemas.microsoft.com/office/drawing/2014/main" id="{02568853-FB54-30EB-2D01-747E00AF6105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60" name="Shape 15">
              <a:extLst>
                <a:ext uri="{FF2B5EF4-FFF2-40B4-BE49-F238E27FC236}">
                  <a16:creationId xmlns:a16="http://schemas.microsoft.com/office/drawing/2014/main" id="{0EC195EE-A975-C047-73B1-DAD57364ECF1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59BDC01E-6F42-D9C6-839D-676950BC7E99}"/>
              </a:ext>
            </a:extLst>
          </p:cNvPr>
          <p:cNvGrpSpPr/>
          <p:nvPr/>
        </p:nvGrpSpPr>
        <p:grpSpPr>
          <a:xfrm>
            <a:off x="10355306" y="3725190"/>
            <a:ext cx="183428" cy="139139"/>
            <a:chOff x="6443594" y="2418906"/>
            <a:chExt cx="183428" cy="139139"/>
          </a:xfrm>
        </p:grpSpPr>
        <p:sp>
          <p:nvSpPr>
            <p:cNvPr id="62" name="Shape 14">
              <a:extLst>
                <a:ext uri="{FF2B5EF4-FFF2-40B4-BE49-F238E27FC236}">
                  <a16:creationId xmlns:a16="http://schemas.microsoft.com/office/drawing/2014/main" id="{22E509F7-0983-A0DA-E1AE-42EE6C776458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63" name="Shape 15">
              <a:extLst>
                <a:ext uri="{FF2B5EF4-FFF2-40B4-BE49-F238E27FC236}">
                  <a16:creationId xmlns:a16="http://schemas.microsoft.com/office/drawing/2014/main" id="{DA592D93-F99C-BEE1-7732-E553B23CA8E6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DDC281C5-83C0-9F3C-D733-616A1018005C}"/>
              </a:ext>
            </a:extLst>
          </p:cNvPr>
          <p:cNvGrpSpPr/>
          <p:nvPr/>
        </p:nvGrpSpPr>
        <p:grpSpPr>
          <a:xfrm>
            <a:off x="10355306" y="4383558"/>
            <a:ext cx="183428" cy="139139"/>
            <a:chOff x="6443594" y="2418906"/>
            <a:chExt cx="183428" cy="139139"/>
          </a:xfrm>
        </p:grpSpPr>
        <p:sp>
          <p:nvSpPr>
            <p:cNvPr id="65" name="Shape 14">
              <a:extLst>
                <a:ext uri="{FF2B5EF4-FFF2-40B4-BE49-F238E27FC236}">
                  <a16:creationId xmlns:a16="http://schemas.microsoft.com/office/drawing/2014/main" id="{8556C3F4-4247-25C3-E077-56873436AE5E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66" name="Shape 15">
              <a:extLst>
                <a:ext uri="{FF2B5EF4-FFF2-40B4-BE49-F238E27FC236}">
                  <a16:creationId xmlns:a16="http://schemas.microsoft.com/office/drawing/2014/main" id="{D11E2F7D-D518-FC1B-3AEE-79BF7F2B12D1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BCD38BC4-E793-70DF-D868-29F52DBD9F4B}"/>
              </a:ext>
            </a:extLst>
          </p:cNvPr>
          <p:cNvGrpSpPr/>
          <p:nvPr/>
        </p:nvGrpSpPr>
        <p:grpSpPr>
          <a:xfrm>
            <a:off x="10507706" y="4535958"/>
            <a:ext cx="183428" cy="139139"/>
            <a:chOff x="6443594" y="2418906"/>
            <a:chExt cx="183428" cy="139139"/>
          </a:xfrm>
        </p:grpSpPr>
        <p:sp>
          <p:nvSpPr>
            <p:cNvPr id="68" name="Shape 14">
              <a:extLst>
                <a:ext uri="{FF2B5EF4-FFF2-40B4-BE49-F238E27FC236}">
                  <a16:creationId xmlns:a16="http://schemas.microsoft.com/office/drawing/2014/main" id="{DA667529-6313-C1A6-A4FB-99E1A6A9B33D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69" name="Shape 15">
              <a:extLst>
                <a:ext uri="{FF2B5EF4-FFF2-40B4-BE49-F238E27FC236}">
                  <a16:creationId xmlns:a16="http://schemas.microsoft.com/office/drawing/2014/main" id="{B5B3A39E-C047-95BB-571B-93C6BE540E11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C89E65FD-D523-9162-5D7D-635A035CD501}"/>
              </a:ext>
            </a:extLst>
          </p:cNvPr>
          <p:cNvGrpSpPr/>
          <p:nvPr/>
        </p:nvGrpSpPr>
        <p:grpSpPr>
          <a:xfrm>
            <a:off x="10349149" y="5047570"/>
            <a:ext cx="183428" cy="139139"/>
            <a:chOff x="6443594" y="2418906"/>
            <a:chExt cx="183428" cy="139139"/>
          </a:xfrm>
        </p:grpSpPr>
        <p:sp>
          <p:nvSpPr>
            <p:cNvPr id="71" name="Shape 14">
              <a:extLst>
                <a:ext uri="{FF2B5EF4-FFF2-40B4-BE49-F238E27FC236}">
                  <a16:creationId xmlns:a16="http://schemas.microsoft.com/office/drawing/2014/main" id="{1CA79CFD-75A0-940C-0604-B2D2FC0DCF14}"/>
                </a:ext>
              </a:extLst>
            </p:cNvPr>
            <p:cNvSpPr/>
            <p:nvPr/>
          </p:nvSpPr>
          <p:spPr>
            <a:xfrm>
              <a:off x="6443594" y="2484242"/>
              <a:ext cx="49743" cy="49743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  <p:sp>
          <p:nvSpPr>
            <p:cNvPr id="72" name="Shape 15">
              <a:extLst>
                <a:ext uri="{FF2B5EF4-FFF2-40B4-BE49-F238E27FC236}">
                  <a16:creationId xmlns:a16="http://schemas.microsoft.com/office/drawing/2014/main" id="{214246AD-9278-9D9A-A34C-3E4448442D7A}"/>
                </a:ext>
              </a:extLst>
            </p:cNvPr>
            <p:cNvSpPr/>
            <p:nvPr/>
          </p:nvSpPr>
          <p:spPr>
            <a:xfrm flipV="1">
              <a:off x="6493338" y="2418906"/>
              <a:ext cx="133684" cy="139139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prstDash val="solid"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" y="306324"/>
            <a:ext cx="341986" cy="34198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84048"/>
            <a:ext cx="310896" cy="310896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757695" y="520065"/>
            <a:ext cx="34976" cy="10201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760" y="455943"/>
            <a:ext cx="34976" cy="1661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89826" y="490919"/>
            <a:ext cx="34976" cy="131159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183" y="384048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51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уже работает на реальных данных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3337560" cy="2651760"/>
          </a:xfrm>
          <a:prstGeom prst="roundRect">
            <a:avLst>
              <a:gd name="adj" fmla="val 2414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606040"/>
            <a:ext cx="658368" cy="65836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0681" y="2750881"/>
            <a:ext cx="368686" cy="95858"/>
          </a:xfrm>
          <a:prstGeom prst="ellipse">
            <a:avLst/>
          </a:prstGeom>
          <a:solidFill>
            <a:srgbClr val="BFD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0681" y="2798810"/>
            <a:ext cx="368686" cy="228585"/>
          </a:xfrm>
          <a:prstGeom prst="rect">
            <a:avLst/>
          </a:prstGeom>
          <a:solidFill>
            <a:srgbClr val="BFD0FF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0681" y="2979466"/>
            <a:ext cx="368686" cy="95858"/>
          </a:xfrm>
          <a:prstGeom prst="ellipse">
            <a:avLst/>
          </a:prstGeom>
          <a:solidFill>
            <a:srgbClr val="BFD0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покрытие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9319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матчи и туры текущего сезона КПЛ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2286000"/>
            <a:ext cx="3337560" cy="2651760"/>
          </a:xfrm>
          <a:prstGeom prst="roundRect">
            <a:avLst>
              <a:gd name="adj" fmla="val 2414"/>
            </a:avLst>
          </a:prstGeom>
          <a:solidFill>
            <a:srgbClr val="F7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606040"/>
            <a:ext cx="658368" cy="65836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54001" y="2750881"/>
            <a:ext cx="368686" cy="368686"/>
          </a:xfrm>
          <a:prstGeom prst="ellipse">
            <a:avLst/>
          </a:prstGeom>
          <a:ln w="38100">
            <a:solidFill>
              <a:srgbClr val="D8B4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0364" y="2935224"/>
            <a:ext cx="58990" cy="0"/>
          </a:xfrm>
          <a:prstGeom prst="line">
            <a:avLst/>
          </a:prstGeom>
          <a:noFill/>
          <a:ln w="28575">
            <a:solidFill>
              <a:srgbClr val="D8B4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9354" y="2935224"/>
            <a:ext cx="51616" cy="0"/>
          </a:xfrm>
          <a:prstGeom prst="line">
            <a:avLst/>
          </a:prstGeom>
          <a:noFill/>
          <a:ln w="28575">
            <a:solidFill>
              <a:srgbClr val="D8B4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30970" y="2831992"/>
            <a:ext cx="51616" cy="184343"/>
          </a:xfrm>
          <a:prstGeom prst="line">
            <a:avLst/>
          </a:prstGeom>
          <a:noFill/>
          <a:ln w="28575">
            <a:solidFill>
              <a:srgbClr val="D8B4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2586" y="3016335"/>
            <a:ext cx="73737" cy="0"/>
          </a:xfrm>
          <a:prstGeom prst="line">
            <a:avLst/>
          </a:prstGeom>
          <a:noFill/>
          <a:ln w="28575">
            <a:solidFill>
              <a:srgbClr val="D8B4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Автообновление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39319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синхронизируются с официальным источником лиги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92440" y="2286000"/>
            <a:ext cx="3337560" cy="2651760"/>
          </a:xfrm>
          <a:prstGeom prst="roundRect">
            <a:avLst>
              <a:gd name="adj" fmla="val 2414"/>
            </a:avLst>
          </a:prstGeom>
          <a:solidFill>
            <a:srgbClr val="F7F8F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2606040"/>
            <a:ext cx="658368" cy="65836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8" name="Shape 26"/>
          <p:cNvSpPr/>
          <p:nvPr/>
        </p:nvSpPr>
        <p:spPr>
          <a:xfrm>
            <a:off x="8557321" y="2979466"/>
            <a:ext cx="73737" cy="140101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78987" y="2898355"/>
            <a:ext cx="73737" cy="221212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800654" y="2817244"/>
            <a:ext cx="73737" cy="302323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22320" y="2750881"/>
            <a:ext cx="73737" cy="368686"/>
          </a:xfrm>
          <a:prstGeom prst="rect">
            <a:avLst/>
          </a:prstGeom>
          <a:solidFill>
            <a:srgbClr val="BFD0F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57321" y="2979466"/>
            <a:ext cx="368686" cy="0"/>
          </a:xfrm>
          <a:prstGeom prst="line">
            <a:avLst/>
          </a:prstGeom>
          <a:noFill/>
          <a:ln w="28575">
            <a:solidFill>
              <a:srgbClr val="BFD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92825" y="2743507"/>
            <a:ext cx="58990" cy="58990"/>
          </a:xfrm>
          <a:prstGeom prst="ellipse">
            <a:avLst/>
          </a:prstGeom>
          <a:solidFill>
            <a:srgbClr val="BFD0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0" y="3474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вживую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9319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тестовом режиме на реальных матчах сезона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6949440" cy="6949440"/>
          </a:xfrm>
          <a:prstGeom prst="ellipse">
            <a:avLst/>
          </a:prstGeom>
          <a:ln w="12700">
            <a:solidFill>
              <a:srgbClr val="4F6B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84368" y="2331720"/>
            <a:ext cx="822960" cy="822960"/>
          </a:xfrm>
          <a:prstGeom prst="roundRect">
            <a:avLst>
              <a:gd name="adj" fmla="val 28125"/>
            </a:avLst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5478628" y="2125980"/>
            <a:ext cx="905256" cy="905256"/>
          </a:xfrm>
          <a:prstGeom prst="ellipse">
            <a:avLst/>
          </a:prstGeom>
          <a:solidFill>
            <a:srgbClr val="4F6B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2331720"/>
            <a:ext cx="822960" cy="822960"/>
          </a:xfrm>
          <a:prstGeom prst="roundRect">
            <a:avLst>
              <a:gd name="adj" fmla="val 28125"/>
            </a:avLst>
          </a:prstGeom>
          <a:ln/>
        </p:spPr>
      </p:sp>
      <p:sp>
        <p:nvSpPr>
          <p:cNvPr id="6" name="Shape 4"/>
          <p:cNvSpPr/>
          <p:nvPr/>
        </p:nvSpPr>
        <p:spPr>
          <a:xfrm>
            <a:off x="5874677" y="2691765"/>
            <a:ext cx="92583" cy="27003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49556" y="2522029"/>
            <a:ext cx="92583" cy="4397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224435" y="2614613"/>
            <a:ext cx="92583" cy="347186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3429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DOPX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C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трибун, оформленный как система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397</Words>
  <Application>Microsoft Macintosh PowerPoint</Application>
  <PresentationFormat>Широкоэкранный</PresentationFormat>
  <Paragraphs>123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Timur Tastanov</cp:lastModifiedBy>
  <cp:revision>5</cp:revision>
  <dcterms:created xsi:type="dcterms:W3CDTF">2026-09-08T05:56:28Z</dcterms:created>
  <dcterms:modified xsi:type="dcterms:W3CDTF">2026-09-08T06:10:13Z</dcterms:modified>
</cp:coreProperties>
</file>